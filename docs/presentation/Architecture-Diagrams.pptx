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AI 醫療數據與模型平台 — 抽象架構總覽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資料流向：來源 → DataOps → 資料平台（Lakehouse/Warehouse/Unity Catalog）→ MLOps/LLMOps → 使用端；DevOps 為橫向基礎設施，非流程中的一站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0" y="274320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1504" y="23774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PingFang TC"/>
                <a:ea typeface="PingFang TC"/>
              </a:rPr>
              <a:t>已完成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274320"/>
            <a:ext cx="182880" cy="1828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3104" y="23774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PingFang TC"/>
                <a:ea typeface="PingFang TC"/>
              </a:rPr>
              <a:t>規劃中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27432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4704" y="23774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PingFang TC"/>
                <a:ea typeface="PingFang TC"/>
              </a:rPr>
              <a:t>需老闆決策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9829800" cy="5074920"/>
          </a:xfrm>
          <a:prstGeom prst="roundRect">
            <a:avLst/>
          </a:prstGeom>
          <a:noFill/>
          <a:ln w="19050">
            <a:solidFill>
              <a:srgbClr val="90A4A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115568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0A4AE"/>
                </a:solidFill>
                <a:latin typeface="PingFang TC"/>
                <a:ea typeface="PingFang TC"/>
              </a:rPr>
              <a:t>平台範疇 Platform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71600"/>
            <a:ext cx="960120" cy="44805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DevOps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基礎設施層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Vault 密鑰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CI/CD 模式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Container Registry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觀測性/稽核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(貫穿右側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所有模塊)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已完成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194560"/>
            <a:ext cx="1325880" cy="292608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資料來源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EMR / 檢驗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醫療影像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基因體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FHIR/OMOP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REDCap / RWD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35808" y="3657600"/>
            <a:ext cx="2834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7560" y="2194560"/>
            <a:ext cx="1417320" cy="29260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DataOps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ETL / ELT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排程 Orchestration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資料品質 Gate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PHI 去識別化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51937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規劃中(下一步)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3657600"/>
            <a:ext cx="2834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2194560"/>
            <a:ext cx="2743200" cy="29260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</a:rPr>
              <a:t>資料平台 (Databricks)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9512" y="2697480"/>
            <a:ext cx="2414016" cy="960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Lakehouse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Delta Lake：Bronze → Silver → Gold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9512" y="3730752"/>
            <a:ext cx="1161288" cy="5669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TC"/>
                <a:ea typeface="PingFang TC"/>
              </a:rPr>
              <a:t>Warehouse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SQL 存取層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730752"/>
            <a:ext cx="1161288" cy="5669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TC"/>
                <a:ea typeface="PingFang TC"/>
              </a:rPr>
              <a:t>Feature Store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餵給 MLOps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9512" y="4407408"/>
            <a:ext cx="2414016" cy="621792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數據中台 = Unity Catalog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統一定義／存取治理／PHI 遮罩／血緣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5193792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規劃中(Databricks Free Edition)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6408" y="3657600"/>
            <a:ext cx="2834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8160" y="2194560"/>
            <a:ext cx="1828800" cy="29260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</a:rPr>
              <a:t>MLOps / LLMOps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2697480"/>
            <a:ext cx="1591056" cy="109728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MLOps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Spark / Databricks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訓練/註冊/部署/監控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風險預測、預後、分群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3886200"/>
            <a:ext cx="1591056" cy="1143000"/>
          </a:xfrm>
          <a:prstGeom prst="round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LLMOps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VLM / LLM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Prompt Engineering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RAG / Agent / 安全評測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19379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需老闆決策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85248" y="3657600"/>
            <a:ext cx="6035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12680" y="3154680"/>
            <a:ext cx="548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  <a:latin typeface="PingFang TC"/>
                <a:ea typeface="PingFang TC"/>
              </a:rPr>
              <a:t>API/介接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2834639"/>
            <a:ext cx="132588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臨床端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研究端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PingFang TC"/>
                <a:ea typeface="PingFang TC"/>
              </a:rPr>
              <a:t>使用者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141732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PingFang TC"/>
                <a:ea typeface="PingFang TC"/>
              </a:rPr>
              <a:t>↑ 上列每個模塊的部署、密鑰、CI/CD、監控皆共用左側 DevOps 平台服務，不是各自獨立建置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建置 → 部署流程圖（CI/CD Pipeline，已實測驗證）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每一步輸出可追溯的 evidence JSON；安全掃描與人工核准為强制關卡，非可略過的建議步驟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151" y="2148840"/>
            <a:ext cx="1481328" cy="12344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建置 Build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docker build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產生 image + digest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6495" y="2148840"/>
            <a:ext cx="1481328" cy="123444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安全掃描 Gate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Trivy / Gitleaks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fail-on unfixed C/H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26767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5839" y="2148840"/>
            <a:ext cx="1481328" cy="12344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簽章與推送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SBOM + Cosign 簽章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推送 GHCR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36111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55183" y="2148840"/>
            <a:ext cx="1481328" cy="12344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部署 Develop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Blue/Green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非啟用 slot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45455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64527" y="2148840"/>
            <a:ext cx="1481328" cy="123444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健康檢查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health/smoke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含優雅關閉測試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4799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73871" y="2148840"/>
            <a:ext cx="1481328" cy="123444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人工核准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Promote 決策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(人工確認)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64143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83215" y="2148840"/>
            <a:ext cx="1481328" cy="12344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藍綠切換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NGINX 流量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切換上線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73487" y="2766060"/>
            <a:ext cx="91440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36495" y="3438144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B71C1C"/>
                </a:solidFill>
                <a:latin typeface="PingFang TC"/>
                <a:ea typeface="PingFang TC"/>
              </a:rPr>
              <a:t>FAIL → 阻擋，不放行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4527" y="3438144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B71C1C"/>
                </a:solidFill>
                <a:latin typeface="PingFang TC"/>
                <a:ea typeface="PingFang TC"/>
              </a:rPr>
              <a:t>FAIL → 阻擋，不放行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3871" y="3438144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B71C1C"/>
                </a:solidFill>
                <a:latin typeface="PingFang TC"/>
                <a:ea typeface="PingFang TC"/>
              </a:rPr>
              <a:t>未核准 → 停在 Develop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23879" y="3401568"/>
            <a:ext cx="0" cy="101498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26599" y="4434840"/>
            <a:ext cx="21945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正式運行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Production-like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854799" y="4818888"/>
            <a:ext cx="2953512" cy="0"/>
          </a:xfrm>
          <a:prstGeom prst="line">
            <a:avLst/>
          </a:prstGeom>
          <a:ln w="22225">
            <a:solidFill>
              <a:srgbClr val="B71C1C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27951" y="4315968"/>
            <a:ext cx="2807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B71C1C"/>
                </a:solidFill>
                <a:latin typeface="PingFang TC"/>
                <a:ea typeface="PingFang TC"/>
              </a:rPr>
              <a:t>Rollback（一鍵切回上一版本，已驗證 NGINX upstream 實際流量切換）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模塊詳圖 1／4：DevOps 基礎設施層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已完成並實測驗證：build→scan→sign→push→deploy→promote→rollback 全流程，含 Blue/Green 與可觀測性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143000"/>
            <a:ext cx="1188720" cy="640080"/>
          </a:xfrm>
          <a:prstGeom prst="roundRect">
            <a:avLst/>
          </a:prstGeom>
          <a:solidFill>
            <a:srgbClr val="F3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Cloudflare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Tunnel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公開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143000"/>
            <a:ext cx="2011680" cy="64008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GitHub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Source of Truth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6080760" y="1801368"/>
            <a:ext cx="45719" cy="19202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2011680"/>
            <a:ext cx="5577840" cy="5943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</a:rPr>
              <a:t>CI/CD Pipeline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GitHub Actions ／ run_local_ci.sh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651760" y="2624328"/>
            <a:ext cx="3429000" cy="23774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17320" y="2880360"/>
            <a:ext cx="2468880" cy="10515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IaC / OpenTofu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Checkov + OPA/Conftest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(policy-as-code gate)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669279" y="2624328"/>
            <a:ext cx="411481" cy="23774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2880360"/>
            <a:ext cx="3017520" cy="105156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Build → Scan → Sign → Push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Trivy/Gitleaks gate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SBOM + Cosign 簽章 → GHCR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624328"/>
            <a:ext cx="2606040" cy="23774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2880360"/>
            <a:ext cx="2468880" cy="10515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Vault (KV v2)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最小權限 Policy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Secret 版本輪替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1801368"/>
            <a:ext cx="0" cy="2724911"/>
          </a:xfrm>
          <a:prstGeom prst="line">
            <a:avLst/>
          </a:prstGeom>
          <a:ln w="22225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4526279"/>
            <a:ext cx="667512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17320" y="4206240"/>
            <a:ext cx="2606040" cy="141732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NGINX Reverse Proxy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TLS 終止 (18443)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Blue/Green 流量切換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access log 驗證流量走向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206240"/>
            <a:ext cx="5486400" cy="141732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Compose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663440"/>
            <a:ext cx="2514600" cy="8686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Blue Slot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(現行 active)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4663440"/>
            <a:ext cx="2514600" cy="8686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Green Slot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(standby)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41648" y="4914900"/>
            <a:ext cx="2834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3950207"/>
            <a:ext cx="3063240" cy="237745"/>
          </a:xfrm>
          <a:prstGeom prst="line">
            <a:avLst/>
          </a:prstGeom>
          <a:ln w="22225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79" y="3950207"/>
            <a:ext cx="1417321" cy="237745"/>
          </a:xfrm>
          <a:prstGeom prst="line">
            <a:avLst/>
          </a:prstGeom>
          <a:ln w="22225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458200" y="3950207"/>
            <a:ext cx="228600" cy="237745"/>
          </a:xfrm>
          <a:prstGeom prst="line">
            <a:avLst/>
          </a:prstGeom>
          <a:ln w="22225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86600" y="5641847"/>
            <a:ext cx="0" cy="146305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417320" y="5806440"/>
            <a:ext cx="8412480" cy="5029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TC"/>
                <a:ea typeface="PingFang TC"/>
              </a:rPr>
              <a:t>Observability：Prometheus 指標 ＋ Loki 日誌 ＋ Grafana Dashboard（已修復並視覺驗證）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模塊詳圖 2／4：DataOps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規劃中(下一步)：套用 DevOps 已驗證的「evidence-driven gate」模式到資料管線；PHI 去識別化為強制關卡，不可略過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2468880"/>
            <a:ext cx="1691640" cy="1371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接入 Ingestion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FHIR / OMOP / REDCap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PACS / 檢驗系統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2468880"/>
            <a:ext cx="1691640" cy="1371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ETL / ELT 轉換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dbt 或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Delta Live Tables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73655" y="3154680"/>
            <a:ext cx="1463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12767" y="2468880"/>
            <a:ext cx="1691640" cy="13716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資料品質 Gate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Schema / Null / Range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檢查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48175" y="3154680"/>
            <a:ext cx="1463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87287" y="2468880"/>
            <a:ext cx="1691640" cy="13716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PHI 去識別化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強制遮罩/脫敏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(不可略過)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22695" y="3154680"/>
            <a:ext cx="1463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61807" y="2468880"/>
            <a:ext cx="1691640" cy="1371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排程 Orchestration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Databricks Workflows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(或 Airflow)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97215" y="3154680"/>
            <a:ext cx="1463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936327" y="2468880"/>
            <a:ext cx="1691640" cy="1371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寫入 Lakehouse</a:t>
            </a:r>
          </a:p>
          <a:p>
            <a:pPr algn="ctr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Bronze → Silver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→ Gold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71735" y="3154680"/>
            <a:ext cx="14630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12767" y="391363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B71C1C"/>
                </a:solidFill>
                <a:latin typeface="PingFang TC"/>
                <a:ea typeface="PingFang TC"/>
              </a:rPr>
              <a:t>FAIL → 阻擋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91363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B71C1C"/>
                </a:solidFill>
                <a:latin typeface="PingFang TC"/>
                <a:ea typeface="PingFang TC"/>
              </a:rPr>
              <a:t>未遮罩 → 阻擋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727" y="4663440"/>
            <a:ext cx="11064240" cy="100584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與 DevOps 平台共用之基礎設施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CI/CD 部署模式 ／ Vault 密鑰 ／ Container Registry ／ Observability（Prometheus/Loki/Grafana）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差異點：DataOps 監控的是「資料新鮮度／品質分數／PHI 掃描結果」，不是 API 延遲或錯誤率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模塊詳圖 3／4：資料平台（Lakehouse／Warehouse／數據中台）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關鍵修正：Warehouse 不是獨立系統，是 Lakehouse 的 SQL 存取層；數據中台＝設定好治理規則的 Unity Catalog，不是另建系統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2331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Lakehouse（Delta Lake）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240280"/>
            <a:ext cx="3200400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Bronze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原始資料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(as-is landing)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40280"/>
            <a:ext cx="3200400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Silver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清理／整合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(schema 一致)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07408" y="2743200"/>
            <a:ext cx="548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0" y="2240280"/>
            <a:ext cx="3200400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Gold</a:t>
            </a:r>
          </a:p>
          <a:p>
            <a:pPr algn="ctr"/>
            <a:r>
              <a:rPr sz="3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業務級聚合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(可直接消費)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99248" y="2743200"/>
            <a:ext cx="5486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88720" y="3429000"/>
            <a:ext cx="313944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Warehouse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SQL 存取層（BI／報表）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1040" y="3429000"/>
            <a:ext cx="313944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Feature Store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餵給 MLOps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360" y="3429000"/>
            <a:ext cx="3139440" cy="50292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TC"/>
                <a:ea typeface="PingFang TC"/>
              </a:rPr>
              <a:t>數據中台 = Unity Catalog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統一定義／PHI 遮罩／血緣／存取治理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17319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06060"/>
                </a:solidFill>
                <a:latin typeface="PingFang TC"/>
                <a:ea typeface="PingFang TC"/>
              </a:rPr>
              <a:t>同一份 Delta Lake 資料，三種消費方式 — 不是三套獨立系統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087367"/>
            <a:ext cx="0" cy="283464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88720" y="4389119"/>
            <a:ext cx="326136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BI 使用者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查報表／臨場分析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1520" y="4389119"/>
            <a:ext cx="3261360" cy="8686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MLOps／LLMOps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訓練資料／Feature／RAG 來源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4389119"/>
            <a:ext cx="3261360" cy="8686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PingFang TC"/>
                <a:ea typeface="PingFang TC"/>
              </a:rPr>
              <a:t>對外治理化 API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PingFang TC"/>
                <a:ea typeface="PingFang TC"/>
              </a:rPr>
              <a:t>跨機構協作／FHIR 介接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40679"/>
            <a:ext cx="10332720" cy="292608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規劃中：Databricks Free Edition + Unity Catalog（老闆已提及 Databricks）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模塊詳圖 4／4：MLOps ／ LLMOps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共用同一條治理骨幹（訓練→註冊→部署→監控）；LLMOps 只是在骨幹上多出 LLM/VLM 特有的關卡，不是另開一條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56816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資料/特徵準備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1215" y="2011680"/>
            <a:ext cx="1956816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訓練 Training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15184" y="2423160"/>
            <a:ext cx="237743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02352" y="2011680"/>
            <a:ext cx="1956816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模型註冊 Registry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PingFang TC"/>
                <a:ea typeface="PingFang TC"/>
              </a:rPr>
              <a:t>(MLflow)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19" y="2423160"/>
            <a:ext cx="237745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33488" y="2011680"/>
            <a:ext cx="1956816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部署 Serving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77456" y="2423160"/>
            <a:ext cx="23774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64624" y="2011680"/>
            <a:ext cx="1956816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PingFang TC"/>
                <a:ea typeface="PingFang TC"/>
              </a:rPr>
              <a:t>監控 Monitoring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PingFang TC"/>
                <a:ea typeface="PingFang TC"/>
              </a:rPr>
              <a:t>(drift/效能)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08592" y="2423160"/>
            <a:ext cx="237744" cy="0"/>
          </a:xfrm>
          <a:prstGeom prst="line">
            <a:avLst/>
          </a:prstGeom>
          <a:ln w="22225">
            <a:solidFill>
              <a:srgbClr val="45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169164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06060"/>
                </a:solidFill>
                <a:latin typeface="PingFang TC"/>
                <a:ea typeface="PingFang TC"/>
              </a:rPr>
              <a:t>共用骨幹（傳統 ML 與 LLM 皆走這條）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303520" cy="160020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MLOps 額外技能／工具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Spark / Databricks 大數據處理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傳統 ML/DL：風險預測、預後分析、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治療成效評估、病人分群、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臨床試驗媒合、決策支援模型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303520" cy="1600200"/>
          </a:xfrm>
          <a:prstGeom prst="round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LLMOps 額外技能／工具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PingFang TC"/>
                <a:ea typeface="PingFang TC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VLM / LLM 微調與評測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Prompt Engineering ／版本控管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RAG（經數據中台governed API）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Agent 編排／安全與幻覺評測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53035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MLOps：需老闆決策(GPU 計算資源)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937760"/>
            <a:ext cx="53035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PingFang TC"/>
                <a:ea typeface="PingFang TC"/>
              </a:rPr>
              <a:t>LLMOps：需老闆決策(模型審核/合規)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  <a:latin typeface="PingFang TC"/>
                <a:ea typeface="PingFang TC"/>
              </a:rPr>
              <a:t>建構順序建議：先把左側 MLOps 骨幹（含 Spark/Databricks 大數據能力）在既有醫療風險預測模型上跑通，驗證資料/特徵/監控閉環後，再疊加右側 LLMOps 的 Prompt/RAG/安全評測層 — 不建議兩者同時從零開始。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2400" b="1" i="0">
                <a:solidFill>
                  <a:srgbClr val="212121"/>
                </a:solidFill>
                <a:latin typeface="PingFang TC"/>
                <a:ea typeface="PingFang TC"/>
              </a:rPr>
              <a:t>資料面向工具擴充建議 — 由下而上建構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 i="0">
                <a:solidFill>
                  <a:srgbClr val="606060"/>
                </a:solidFill>
                <a:latin typeface="PingFang TC"/>
                <a:ea typeface="PingFang TC"/>
              </a:rPr>
              <a:t>既然已決定用 Databricks，多數層都有「原生工具」可直接用，不必另外選型；由下而上逐層驗證，不要跳層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5166360"/>
            <a:ext cx="10607040" cy="8412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① 儲存 / Lakehouse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Databricks Free Edition + Delta Lake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基礎，其餘四層都依賴這層存在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8167" y="4251960"/>
            <a:ext cx="8595360" cy="841248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② DataOps 排程/轉換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Databricks Workflows（原生排程）＋ dbt-core 或 Delta Live Tables（轉換+品質規則）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重用 DevOps 已驗證的 CI/evidence-gate 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3337560"/>
            <a:ext cx="6583680" cy="841248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③ 治理 / 數據中台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Unity Catalog（原生）：啟用 column masking + row filter 做 PHI 遮罩，設定統一 schema 命名規範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不用另建系統 — 這層常被誤認為要客製開發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2423160"/>
            <a:ext cx="4572000" cy="84124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④ MLOps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MLflow（原生，追蹤/註冊）＋ PySpark（Spark 大數據處理）＋ Feature Store（原生）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先在既有風險預測類模型驗證這整條閉環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508760"/>
            <a:ext cx="2743200" cy="841248"/>
          </a:xfrm>
          <a:prstGeom prst="round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⑤ LLMOps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PingFang TC"/>
                <a:ea typeface="PingFang TC"/>
              </a:rPr>
              <a:t>Databricks Vector Search（或輕量 pgvector/Chroma）＋ Prompt/Eval 框架（Ragas/DeepEval）＋ Agent 編排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PingFang TC"/>
                <a:ea typeface="PingFang TC"/>
              </a:rPr>
              <a:t>VLM/LLM 微調與安全評測 — 需老闆決策 GPU/合規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822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606060"/>
                </a:solidFill>
                <a:latin typeface="PingFang TC"/>
                <a:ea typeface="PingFang TC"/>
              </a:rPr>
              <a:t>建構
順序
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51560"/>
            <a:ext cx="11612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  <a:latin typeface="PingFang TC"/>
                <a:ea typeface="PingFang TC"/>
              </a:rPr>
              <a:t>註：①②③三層在 Databricks Free Edition 內幾乎是「開通即用」，真正需要投入開發心力的是 ④⑤ 的模型/Prompt 治理與評測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